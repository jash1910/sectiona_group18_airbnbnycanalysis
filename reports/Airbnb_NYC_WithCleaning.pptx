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2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Average Price by Borough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80-744B-84D8-81630178A17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80-744B-84D8-81630178A177}"/>
              </c:ext>
            </c:extLst>
          </c:dPt>
          <c:dPt>
            <c:idx val="2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80-744B-84D8-81630178A17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B80-744B-84D8-81630178A17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B80-744B-84D8-81630178A17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77.37</c:v>
                </c:pt>
                <c:pt idx="1">
                  <c:v>105.7</c:v>
                </c:pt>
                <c:pt idx="2">
                  <c:v>145.94999999999999</c:v>
                </c:pt>
                <c:pt idx="3">
                  <c:v>88.9</c:v>
                </c:pt>
                <c:pt idx="4">
                  <c:v>89.24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80-744B-84D8-81630178A1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Room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3F-794A-BD6E-F64C39D71984}"/>
              </c:ext>
            </c:extLst>
          </c:dPt>
          <c:dPt>
            <c:idx val="1"/>
            <c:bubble3D val="0"/>
            <c:spPr>
              <a:solidFill>
                <a:srgbClr val="F28B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3F-794A-BD6E-F64C39D71984}"/>
              </c:ext>
            </c:extLst>
          </c:dPt>
          <c:dPt>
            <c:idx val="2"/>
            <c:bubble3D val="0"/>
            <c:spPr>
              <a:solidFill>
                <a:srgbClr val="9C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3F-794A-BD6E-F64C39D7198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3F-794A-BD6E-F64C39D7198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3F-794A-BD6E-F64C39D7198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03F-794A-BD6E-F64C39D7198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22789</c:v>
                </c:pt>
                <c:pt idx="1">
                  <c:v>21996</c:v>
                </c:pt>
                <c:pt idx="2">
                  <c:v>1138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3F-794A-BD6E-F64C39D71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Score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BE-EA4C-8939-D3EEEB57377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8BE-EA4C-8939-D3EEEB57377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8BE-EA4C-8939-D3EEEB57377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8BE-EA4C-8939-D3EEEB573773}"/>
              </c:ext>
            </c:extLst>
          </c:dPt>
          <c:dPt>
            <c:idx val="4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BE-EA4C-8939-D3EEEB57377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Queens</c:v>
                </c:pt>
                <c:pt idx="3">
                  <c:v>Bronx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0.20380000000000001</c:v>
                </c:pt>
                <c:pt idx="1">
                  <c:v>0.2863</c:v>
                </c:pt>
                <c:pt idx="2">
                  <c:v>0.42520000000000002</c:v>
                </c:pt>
                <c:pt idx="3">
                  <c:v>0.43980000000000002</c:v>
                </c:pt>
                <c:pt idx="4">
                  <c:v>0.50939999999999996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BE-EA4C-8939-D3EEEB5737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Total Listings by Borough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95A-094E-A1C2-F7EE88BDF513}"/>
              </c:ext>
            </c:extLst>
          </c:dPt>
          <c:dPt>
            <c:idx val="1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5A-094E-A1C2-F7EE88BDF513}"/>
              </c:ext>
            </c:extLst>
          </c:dPt>
          <c:dPt>
            <c:idx val="2"/>
            <c:invertIfNegative val="0"/>
            <c:bubble3D val="0"/>
            <c:spPr>
              <a:solidFill>
                <a:srgbClr val="9C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95A-094E-A1C2-F7EE88BDF51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95A-094E-A1C2-F7EE88BDF51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95A-094E-A1C2-F7EE88BDF51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1070</c:v>
                </c:pt>
                <c:pt idx="1">
                  <c:v>19415</c:v>
                </c:pt>
                <c:pt idx="2">
                  <c:v>19506</c:v>
                </c:pt>
                <c:pt idx="3">
                  <c:v>5567</c:v>
                </c:pt>
                <c:pt idx="4">
                  <c:v>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95A-094E-A1C2-F7EE88BDF5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Avg. Occupancy Rate by Borough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 Rate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36-144C-A186-18A8E21A4BFB}"/>
              </c:ext>
            </c:extLst>
          </c:dPt>
          <c:dPt>
            <c:idx val="1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E36-144C-A186-18A8E21A4BFB}"/>
              </c:ext>
            </c:extLst>
          </c:dPt>
          <c:dPt>
            <c:idx val="2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36-144C-A186-18A8E21A4BFB}"/>
              </c:ext>
            </c:extLst>
          </c:dPt>
          <c:dPt>
            <c:idx val="3"/>
            <c:invertIfNegative val="0"/>
            <c:bubble3D val="0"/>
            <c:spPr>
              <a:solidFill>
                <a:srgbClr val="9C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36-144C-A186-18A8E21A4BF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E36-144C-A186-18A8E21A4B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0.65</c:v>
                </c:pt>
                <c:pt idx="2">
                  <c:v>0.62</c:v>
                </c:pt>
                <c:pt idx="3">
                  <c:v>0.7</c:v>
                </c:pt>
                <c:pt idx="4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E36-144C-A186-18A8E21A4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Avg. Demand Score by Borough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Demand Score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10-F64F-A1C5-B72CFCE0B1E1}"/>
              </c:ext>
            </c:extLst>
          </c:dPt>
          <c:dPt>
            <c:idx val="1"/>
            <c:invertIfNegative val="0"/>
            <c:bubble3D val="0"/>
            <c:spPr>
              <a:solidFill>
                <a:srgbClr val="E82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10-F64F-A1C5-B72CFCE0B1E1}"/>
              </c:ext>
            </c:extLst>
          </c:dPt>
          <c:dPt>
            <c:idx val="2"/>
            <c:invertIfNegative val="0"/>
            <c:bubble3D val="0"/>
            <c:spPr>
              <a:solidFill>
                <a:srgbClr val="9C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10-F64F-A1C5-B72CFCE0B1E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610-F64F-A1C5-B72CFCE0B1E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610-F64F-A1C5-B72CFCE0B1E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0.57999999999999996</c:v>
                </c:pt>
                <c:pt idx="1">
                  <c:v>1.1499999999999999</c:v>
                </c:pt>
                <c:pt idx="2">
                  <c:v>1.22</c:v>
                </c:pt>
                <c:pt idx="3">
                  <c:v>0.65</c:v>
                </c:pt>
                <c:pt idx="4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610-F64F-A1C5-B72CFCE0B1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Reviews per Month by Borough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Reviews/Month</c:v>
                </c:pt>
              </c:strCache>
            </c:strRef>
          </c:tx>
          <c:spPr>
            <a:solidFill>
              <a:srgbClr val="F28B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FE-2F4C-BD66-E9C9615C8DB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4FE-2F4C-BD66-E9C9615C8DB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4FE-2F4C-BD66-E9C9615C8DBB}"/>
              </c:ext>
            </c:extLst>
          </c:dPt>
          <c:dPt>
            <c:idx val="3"/>
            <c:invertIfNegative val="0"/>
            <c:bubble3D val="0"/>
            <c:spPr>
              <a:solidFill>
                <a:srgbClr val="9C1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FE-2F4C-BD66-E9C9615C8DB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4FE-2F4C-BD66-E9C9615C8D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1.8509</c:v>
                </c:pt>
                <c:pt idx="1">
                  <c:v>1.2914000000000001</c:v>
                </c:pt>
                <c:pt idx="2">
                  <c:v>1.2591000000000001</c:v>
                </c:pt>
                <c:pt idx="3">
                  <c:v>1.9505999999999999</c:v>
                </c:pt>
                <c:pt idx="4">
                  <c:v>1.8842000000000001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4FE-2F4C-BD66-E9C9615C8D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85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365760"/>
            <a:ext cx="1645920" cy="4572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airbnb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 ·  INSIDE AIRBNB  ·  2019 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Airbnb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Analysis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users find the best Airbnb listings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price, location, reviews &amp; availability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1097280" cy="11430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45,923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18470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18120" y="1188720"/>
            <a:ext cx="1097280" cy="11430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12801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$119.97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818120" y="18470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2560320"/>
            <a:ext cx="1097280" cy="11430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23.94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32186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2560320"/>
            <a:ext cx="1097280" cy="11430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70.07%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18120" y="32186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12DEBBA-2C41-52AF-1B9E-F841741C7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69" y="398903"/>
            <a:ext cx="315558" cy="3131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1673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analyzing NYC Airbnb data matters for travelers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3852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45,923 listings across 5 NYC boroughs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distribution, room types &amp; neighborhood pricing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962656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809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18211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spread, availability &amp; top-value listings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84448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027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80390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scores, occupancy &amp; premium zones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420624" cy="402336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420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224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&amp; Recommendations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2569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 for better booking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46304"/>
            <a:ext cx="1737360" cy="32004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32588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09728" cy="132588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analyze the Inside Airbnb NYC dataset to help users identify the most suitable Airbnb listings based on pricing, neighborhood, reviews, availability, and stay preferences — enabling better booking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7772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8163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has 45,923+ listings across 5 boroughs — overwhelming for travelers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114800" cy="7772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281635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range from budget to luxury with no easy way to compare value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0" cy="7772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7764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patterns vary significantly by neighborhood &amp; room 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703320"/>
            <a:ext cx="4114800" cy="7772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37764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minimum-night restrictions affect booking flexibility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91440"/>
            <a:ext cx="182880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Process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4160520" cy="73152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329184" cy="7315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024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Data Inspection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252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AB_NYC_2019.csv (48,895 rows × 16 cols). Checked shape, dtypes, null counts via df.info() and df.isnull().sum().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416052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792224"/>
            <a:ext cx="329184" cy="7315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792224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2057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(16 nulls) → 'Unknown'. host_name (21) → 'Unknown'. last_review (10,052) → 'No Review'. reviews_per_month (10,052) → 0.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596896"/>
            <a:ext cx="4160520" cy="73152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596896"/>
            <a:ext cx="329184" cy="7315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596896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28620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df.drop_duplicates() — no duplicate rows found post-check.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401568"/>
            <a:ext cx="416052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401568"/>
            <a:ext cx="329184" cy="7315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3401568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 Conversion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366674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last_review converted to datetime using pd.to_datetime(errors='coerce').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4206240"/>
            <a:ext cx="4160520" cy="73152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4206240"/>
            <a:ext cx="329184" cy="7315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" y="4206240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" y="42428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Treatment (IQR)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" y="44714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price outliers outside Q1−1.5×IQR to Q3+1.5×IQR range.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27448" y="987552"/>
            <a:ext cx="416052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27448" y="987552"/>
            <a:ext cx="329184" cy="731520"/>
          </a:xfrm>
          <a:prstGeom prst="rect">
            <a:avLst/>
          </a:prstGeom>
          <a:solidFill>
            <a:srgbClr val="9C1A2E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27448" y="987552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11496" y="1024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11496" y="1252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column: price_per_person = price / (minimum_nights + 1), rounded to 2 decimal places.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27448" y="1792224"/>
            <a:ext cx="4160520" cy="73152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27448" y="1792224"/>
            <a:ext cx="329184" cy="731520"/>
          </a:xfrm>
          <a:prstGeom prst="rect">
            <a:avLst/>
          </a:prstGeom>
          <a:solidFill>
            <a:srgbClr val="9C1A2E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27448" y="1792224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11496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Standardization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11496" y="205740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 names → lowercase + underscores via str.lower().str.replace(' ','_').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27448" y="2596896"/>
            <a:ext cx="4160520" cy="731520"/>
          </a:xfrm>
          <a:prstGeom prst="rect">
            <a:avLst/>
          </a:prstGeom>
          <a:solidFill>
            <a:srgbClr val="1A1A2E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27448" y="2596896"/>
            <a:ext cx="329184" cy="731520"/>
          </a:xfrm>
          <a:prstGeom prst="rect">
            <a:avLst/>
          </a:prstGeom>
          <a:solidFill>
            <a:srgbClr val="9C1A2E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27448" y="2596896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1149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Verification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11496" y="286207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Post-cleaning: 0 nulls, 0 duplicates. Final shape: 45,923 rows × 15 columns.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27448" y="3401568"/>
            <a:ext cx="4160520" cy="73152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27448" y="3401568"/>
            <a:ext cx="329184" cy="731520"/>
          </a:xfrm>
          <a:prstGeom prst="rect">
            <a:avLst/>
          </a:prstGeom>
          <a:solidFill>
            <a:srgbClr val="9C1A2E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27448" y="3401568"/>
            <a:ext cx="3291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11496" y="3438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Export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11496" y="366674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processed_AB_NYC_2019.csv for Tableau visualization.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56738" y="4846320"/>
            <a:ext cx="33129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AIRBNB MARKET ANALYSIS  ·  2019  ·  INSIDE AIRBNB DATASET</a:t>
            </a:r>
            <a:endParaRPr lang="en-US" sz="9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D93E2911-84A2-589C-3873-C8EFE1C2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4545584"/>
            <a:ext cx="4283808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91440"/>
            <a:ext cx="182880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Data → Clean Data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987552"/>
            <a:ext cx="2331720" cy="37490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2331720" cy="329184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48,895 rows × 16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16 nulls in name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21 nulls in host_name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10,052 nulls in last_review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10,052 nulls in reviews_per_month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Price outliers present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Mixed date formats (string)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94176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Spaces in column names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023360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price_per_person column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98064" y="2514600"/>
            <a:ext cx="640080" cy="457200"/>
          </a:xfrm>
          <a:prstGeom prst="rightArrow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93008" y="987552"/>
            <a:ext cx="2331720" cy="374904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93008" y="987552"/>
            <a:ext cx="2331720" cy="329184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98755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21024" y="138988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45,923 rows × 15 columns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21024" y="171907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nulls — all resolved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21024" y="2048256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nulls — all resolved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21024" y="2377440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Filled with 'No Review'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21024" y="2706624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Filled with 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21024" y="3035808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IQR outlier removal applied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21024" y="3364992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Proper datetime dtype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21024" y="3694176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snake_case names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21024" y="4023360"/>
            <a:ext cx="2084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price_per_person added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987552"/>
            <a:ext cx="2852928" cy="173736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87552"/>
            <a:ext cx="2852928" cy="17373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943600" y="274320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— df.head()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943600" y="2944368"/>
            <a:ext cx="2852928" cy="1792224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944368"/>
            <a:ext cx="2852928" cy="179222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943600" y="4754880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Post-cleaning: 0 null values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AIRBNB MARKET ANALYSIS  ·  2019  ·  INSIDE AIRBNB DATASET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99A00B3-B254-08C6-3503-33D1BA5C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951" y="4784166"/>
            <a:ext cx="3917618" cy="359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NYC Airbnb —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1371600" cy="9601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45,923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19072" y="777240"/>
            <a:ext cx="1371600" cy="96012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1907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1907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Boroughs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82112" y="777240"/>
            <a:ext cx="1371600" cy="9601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8211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$119.97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8211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Price/Night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45152" y="777240"/>
            <a:ext cx="1371600" cy="96012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4515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23.92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4515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777240"/>
            <a:ext cx="1371600" cy="9601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0819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109.2 days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0819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Availability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777240"/>
            <a:ext cx="1371600" cy="96012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71232" y="850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70.07%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71232" y="1344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810512"/>
            <a:ext cx="8631936" cy="333298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56032" y="4904509"/>
            <a:ext cx="8631936" cy="335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1 — Overview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67823C2-2DA2-F0B0-7CD4-882146CBE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210312" y="5003587"/>
            <a:ext cx="1984248" cy="139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51140"/>
            <a:ext cx="5486400" cy="85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Across NYC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822960"/>
            <a:ext cx="5486400" cy="4229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06440" y="1280160"/>
            <a:ext cx="54864" cy="5029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71032" y="12618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 leads at $145.95/night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71032" y="149961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Highest-priced borough — 22% above NYC avg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1993392"/>
            <a:ext cx="54864" cy="5029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71032" y="19751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Bronx is most affordable at $77.37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71032" y="22128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for budget-conscious travelers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2706624"/>
            <a:ext cx="54864" cy="5029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71032" y="26883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Entire homes cost 2× private rooms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71032" y="292608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 vs $80/night avg — room type dominates price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419856"/>
            <a:ext cx="54864" cy="5029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71032" y="34015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 drop with price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71032" y="36393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listings get fewer monthly reviews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06440" y="4133088"/>
            <a:ext cx="54864" cy="50292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71032" y="4114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Min-nights spike above $168 avg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71032" y="4352544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minimum stays push prices up significantly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764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by Borough &amp; Room Type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777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7772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56032" y="382219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for Money Score by Borough (higher = better value)</a:t>
            </a:r>
            <a:endParaRPr lang="en-US" sz="1300" dirty="0"/>
          </a:p>
        </p:txBody>
      </p:sp>
      <p:graphicFrame>
        <p:nvGraphicFramePr>
          <p:cNvPr id="8" name="Chart 2"/>
          <p:cNvGraphicFramePr/>
          <p:nvPr>
            <p:extLst>
              <p:ext uri="{D42A27DB-BD31-4B8C-83A1-F6EECF244321}">
                <p14:modId xmlns:p14="http://schemas.microsoft.com/office/powerpoint/2010/main" val="907096504"/>
              </p:ext>
            </p:extLst>
          </p:nvPr>
        </p:nvGraphicFramePr>
        <p:xfrm>
          <a:off x="256032" y="4133088"/>
          <a:ext cx="8631936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780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Are the Listings?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04672"/>
            <a:ext cx="8631936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4498848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3 — Location Analysis  |  Geographic distribution, availability by borough, top-value listings &amp; occupancy rates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" y="4754880"/>
            <a:ext cx="2743200" cy="347472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6032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Brooklyn &amp; Manhattan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Dominate the market with ~42% of all listings each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4754880"/>
            <a:ext cx="2743200" cy="347472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Queens leads occupancy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avg. occupancy rate at ~70% annually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44768" y="4754880"/>
            <a:ext cx="2743200" cy="347472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44768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value listings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Mostly Queens &amp; Brooklyn — best price-to-quality ratio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745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Listings &amp; Occupancy by Borough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777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7772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56032" y="3886200"/>
            <a:ext cx="8631936" cy="10927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56032" y="3886200"/>
            <a:ext cx="91440" cy="1092708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959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2245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and Manhattan dominate with 42% of listings each, but Queens delivers the highest occupancy rate at ~70%. Staten Island and Bronx remain underserved — lower competition means better availability for travelers seeking budget options.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1"/>
            <a:ext cx="8229600" cy="83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&amp; Review Patterns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04672"/>
            <a:ext cx="8631936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4498848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4 — Demand Analysis  |  Demand scores, price vs demand, premium zones &amp; reviews per month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" y="4754880"/>
            <a:ext cx="2743200" cy="347472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6032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 highest demand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Score ~1.2 — premium zone status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4754880"/>
            <a:ext cx="2743200" cy="347472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320040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= highest demand score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0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More bookings at lower price points (~3.5 avg)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44768" y="4754880"/>
            <a:ext cx="2743200" cy="347472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44768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Bronx reviews/month = 1.85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4768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reviewed per month — active engagement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1"/>
            <a:ext cx="8229600" cy="7724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Score &amp; Reviews by Borough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7772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94960" y="777240"/>
          <a:ext cx="3474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56032" y="3730752"/>
            <a:ext cx="8631936" cy="11704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256032" y="3730752"/>
            <a:ext cx="109728" cy="1170432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05993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and Brooklyn are high-demand premium zones — ideal for hosts seeking revenue. For budget travelers, Budget-category listings score highest in demand (~3.5 avg demand score). Queens has the most reviews/month (1.95), suggesting active, satisfied guests. Bronx and Staten Island offer low-competition opportunities with decent review rates.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💎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Manhattan = Highest Price &amp; Demand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66420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$145.95 avg, Manhattan listings command the highest rates. Demand score (1.22) confirms premium status. Ideal for luxury travelers.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89611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82112" y="89611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1261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Queens = Best Value for Travelers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166420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$88.90 + highest occupancy (70%) + most reviews/month (1.95). Queens offers the best combination of affordability and quality.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89611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08192" y="89611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987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🏡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2618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Staten Island = Hidden Gem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6420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value-for-money score (0.51) at low competition. Perfect for budget-conscious travelers avoiding tourist density.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90779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90779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3273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Listings Drive Demand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367588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price category has the highest avg demand score (~3.5) — demand inversely correlates with price. More affordable = more booked.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82112" y="290779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82112" y="290779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9272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9272" y="3273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Entire Homes Cost 2× More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9272" y="367588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home/apt: ~$160/night vs Private room: ~$80/night. Choice of room type is the single biggest lever on price.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08192" y="2907792"/>
            <a:ext cx="2743200" cy="1828800"/>
          </a:xfrm>
          <a:prstGeom prst="rect">
            <a:avLst/>
          </a:prstGeom>
          <a:solidFill>
            <a:srgbClr val="2D2D44"/>
          </a:solidFill>
          <a:ln w="6350">
            <a:solidFill>
              <a:srgbClr val="383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08192" y="2907792"/>
            <a:ext cx="73152" cy="18288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45352" y="29992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8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45352" y="32735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Bronx = High Reviews, Low Traffic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45352" y="367588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 reviews/month despite just 1,070 listings. High satisfaction rate in an underexplored borough.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Should Book What?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31936" cy="914400"/>
          </a:xfrm>
          <a:prstGeom prst="rect">
            <a:avLst/>
          </a:prstGeom>
          <a:solidFill>
            <a:srgbClr val="F1F1F5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011680" cy="9144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914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Business Traveler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· Private Room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1463040" cy="45720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$80-120/night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0241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location, high availability, professional reviews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8631936" cy="914400"/>
          </a:xfrm>
          <a:prstGeom prst="rect">
            <a:avLst/>
          </a:prstGeom>
          <a:solidFill>
            <a:srgbClr val="F1F1F5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847088"/>
            <a:ext cx="2011680" cy="9144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👨‍👩‍👧 Family / Group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" y="2286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· Entire Home/Apt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2029968"/>
            <a:ext cx="1463040" cy="45720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0" y="20299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$100-140/night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204825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space, high occupancy signal, diverse neighborhoods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2871216"/>
            <a:ext cx="8631936" cy="914400"/>
          </a:xfrm>
          <a:prstGeom prst="rect">
            <a:avLst/>
          </a:prstGeom>
          <a:solidFill>
            <a:srgbClr val="F1F1F5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2011680" cy="9144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" y="29626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🎒 Budget Backpacker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" y="3310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 or Bronx · Shared or Private Room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77440" y="3054096"/>
            <a:ext cx="1463040" cy="45720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77440" y="30540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$50-80/night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0723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prices, highest reviews/month, underexplored local culture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" y="3895344"/>
            <a:ext cx="8631936" cy="914400"/>
          </a:xfrm>
          <a:prstGeom prst="rect">
            <a:avLst/>
          </a:prstGeom>
          <a:solidFill>
            <a:srgbClr val="F1F1F5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" y="3895344"/>
            <a:ext cx="2011680" cy="9144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01752" y="3986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🏖️ Weekend Getaway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752" y="43342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Island · Entire Home/Apt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078224"/>
            <a:ext cx="1463040" cy="457200"/>
          </a:xfrm>
          <a:prstGeom prst="rect">
            <a:avLst/>
          </a:prstGeom>
          <a:solidFill>
            <a:srgbClr val="9C1A2E"/>
          </a:solidFill>
          <a:ln w="12700">
            <a:solidFill>
              <a:srgbClr val="9C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77440" y="40782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$70-100/night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77640" y="40965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value-for-money score (0.51), low competition, peaceful stays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6032" y="4956048"/>
            <a:ext cx="8631936" cy="18288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1645920" cy="457200"/>
          </a:xfrm>
          <a:prstGeom prst="rect">
            <a:avLst/>
          </a:prstGeom>
          <a:solidFill>
            <a:srgbClr val="E8294A"/>
          </a:solidFill>
          <a:ln w="12700">
            <a:solidFill>
              <a:srgbClr val="E82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airbnb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29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Inside Airbnb NYC 2019  ·  45,923 Listings  ·  5 Boroughs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public.tableau.com/app/profile/jashvitha.omkaram/viz/BNBnycalmostfinal/Dashboard1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453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AIRBNB MARKET ANALYSIS  ·  2019  ·  INSIDE AIRBNB DATASET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9EF637-063D-B74B-C795-0AADB207B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41" y="318895"/>
            <a:ext cx="315558" cy="3131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Members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Strip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94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BottomBar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D2D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LogoBadge"/>
          <p:cNvSpPr/>
          <p:nvPr/>
        </p:nvSpPr>
        <p:spPr>
          <a:xfrm>
            <a:off x="411480" y="274320"/>
            <a:ext cx="1645920" cy="457200"/>
          </a:xfrm>
          <a:prstGeom prst="rect">
            <a:avLst/>
          </a:prstGeom>
          <a:solidFill>
            <a:srgbClr val="E8294A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irbnbLabel"/>
          <p:cNvSpPr/>
          <p:nvPr/>
        </p:nvSpPr>
        <p:spPr>
          <a:xfrm>
            <a:off x="41148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</a:rPr>
              <a:t>✦ airbnb</a:t>
            </a:r>
          </a:p>
        </p:txBody>
      </p:sp>
      <p:sp>
        <p:nvSpPr>
          <p:cNvPr id="6" name="Title"/>
          <p:cNvSpPr/>
          <p:nvPr/>
        </p:nvSpPr>
        <p:spPr>
          <a:xfrm>
            <a:off x="457200" y="750000"/>
            <a:ext cx="82296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</a:rPr>
              <a:t>Meet the Team</a:t>
            </a:r>
          </a:p>
        </p:txBody>
      </p:sp>
      <p:sp>
        <p:nvSpPr>
          <p:cNvPr id="7" name="TitleAccent"/>
          <p:cNvSpPr/>
          <p:nvPr/>
        </p:nvSpPr>
        <p:spPr>
          <a:xfrm>
            <a:off x="3800000" y="1360000"/>
            <a:ext cx="1544000" cy="50000"/>
          </a:xfrm>
          <a:prstGeom prst="rect">
            <a:avLst/>
          </a:prstGeom>
          <a:solidFill>
            <a:srgbClr val="E8294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HeaderBg"/>
          <p:cNvSpPr/>
          <p:nvPr/>
        </p:nvSpPr>
        <p:spPr>
          <a:xfrm>
            <a:off x="457200" y="1480000"/>
            <a:ext cx="8229600" cy="320000"/>
          </a:xfrm>
          <a:prstGeom prst="rect">
            <a:avLst/>
          </a:prstGeom>
          <a:solidFill>
            <a:srgbClr val="E8294A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HdrRole"/>
          <p:cNvSpPr/>
          <p:nvPr/>
        </p:nvSpPr>
        <p:spPr>
          <a:xfrm>
            <a:off x="520000" y="1480000"/>
            <a:ext cx="29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Role</a:t>
            </a:r>
          </a:p>
        </p:txBody>
      </p:sp>
      <p:sp>
        <p:nvSpPr>
          <p:cNvPr id="10" name="HdrName"/>
          <p:cNvSpPr/>
          <p:nvPr/>
        </p:nvSpPr>
        <p:spPr>
          <a:xfrm>
            <a:off x="3500000" y="1480000"/>
            <a:ext cx="510000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Name</a:t>
            </a:r>
          </a:p>
        </p:txBody>
      </p:sp>
      <p:sp>
        <p:nvSpPr>
          <p:cNvPr id="11" name="R1bg"/>
          <p:cNvSpPr/>
          <p:nvPr/>
        </p:nvSpPr>
        <p:spPr>
          <a:xfrm>
            <a:off x="457200" y="1800000"/>
            <a:ext cx="8229600" cy="290000"/>
          </a:xfrm>
          <a:prstGeom prst="rect">
            <a:avLst/>
          </a:prstGeom>
          <a:solidFill>
            <a:srgbClr val="242438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R2bg"/>
          <p:cNvSpPr/>
          <p:nvPr/>
        </p:nvSpPr>
        <p:spPr>
          <a:xfrm>
            <a:off x="457200" y="2090000"/>
            <a:ext cx="8229600" cy="290000"/>
          </a:xfrm>
          <a:prstGeom prst="rect">
            <a:avLst/>
          </a:prstGeom>
          <a:solidFill>
            <a:srgbClr val="1E1E32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R3bg"/>
          <p:cNvSpPr/>
          <p:nvPr/>
        </p:nvSpPr>
        <p:spPr>
          <a:xfrm>
            <a:off x="457200" y="2380000"/>
            <a:ext cx="8229600" cy="290000"/>
          </a:xfrm>
          <a:prstGeom prst="rect">
            <a:avLst/>
          </a:prstGeom>
          <a:solidFill>
            <a:srgbClr val="242438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R4bg"/>
          <p:cNvSpPr/>
          <p:nvPr/>
        </p:nvSpPr>
        <p:spPr>
          <a:xfrm>
            <a:off x="457200" y="2670000"/>
            <a:ext cx="8229600" cy="290000"/>
          </a:xfrm>
          <a:prstGeom prst="rect">
            <a:avLst/>
          </a:prstGeom>
          <a:solidFill>
            <a:srgbClr val="1E1E3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R5bg"/>
          <p:cNvSpPr/>
          <p:nvPr/>
        </p:nvSpPr>
        <p:spPr>
          <a:xfrm>
            <a:off x="457200" y="2960000"/>
            <a:ext cx="8229600" cy="290000"/>
          </a:xfrm>
          <a:prstGeom prst="rect">
            <a:avLst/>
          </a:prstGeom>
          <a:solidFill>
            <a:srgbClr val="24243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R6bg"/>
          <p:cNvSpPr/>
          <p:nvPr/>
        </p:nvSpPr>
        <p:spPr>
          <a:xfrm>
            <a:off x="457200" y="3250000"/>
            <a:ext cx="8229600" cy="290000"/>
          </a:xfrm>
          <a:prstGeom prst="rect">
            <a:avLst/>
          </a:prstGeom>
          <a:solidFill>
            <a:srgbClr val="1E1E3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R7bg"/>
          <p:cNvSpPr/>
          <p:nvPr/>
        </p:nvSpPr>
        <p:spPr>
          <a:xfrm>
            <a:off x="457200" y="3540000"/>
            <a:ext cx="8229600" cy="290000"/>
          </a:xfrm>
          <a:prstGeom prst="rect">
            <a:avLst/>
          </a:prstGeom>
          <a:solidFill>
            <a:srgbClr val="242438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RolesText"/>
          <p:cNvSpPr/>
          <p:nvPr/>
        </p:nvSpPr>
        <p:spPr>
          <a:xfrm>
            <a:off x="520000" y="1800000"/>
            <a:ext cx="2850000" cy="2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Project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Data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ETL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Analysis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Visualization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Strategy Lead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E8294A"/>
                </a:solidFill>
                <a:latin typeface="Trebuchet MS" pitchFamily="34" charset="0"/>
              </a:rPr>
              <a:t>PPT and Quality Lead</a:t>
            </a:r>
          </a:p>
        </p:txBody>
      </p:sp>
      <p:sp>
        <p:nvSpPr>
          <p:cNvPr id="21" name="NamesText"/>
          <p:cNvSpPr/>
          <p:nvPr/>
        </p:nvSpPr>
        <p:spPr>
          <a:xfrm>
            <a:off x="3500000" y="1800000"/>
            <a:ext cx="5050000" cy="20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Jashvitha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Krish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Akhil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Aditya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Jashvitha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Abhishek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Chaitanya</a:t>
            </a:r>
          </a:p>
        </p:txBody>
      </p:sp>
      <p:sp>
        <p:nvSpPr>
          <p:cNvPr id="22" name="Footer"/>
          <p:cNvSpPr/>
          <p:nvPr/>
        </p:nvSpPr>
        <p:spPr>
          <a:xfrm>
            <a:off x="274320" y="44531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88"/>
                </a:solidFill>
                <a:latin typeface="Calibri" pitchFamily="34" charset="0"/>
              </a:rPr>
              <a:t>NYC AIRBNB MARKET ANALYSIS  ·  2019  ·  INSIDE AIRBNB DATASET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2F2B9C-EC04-0372-D9F7-F29B76A1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41" y="318895"/>
            <a:ext cx="315558" cy="3131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1390</Words>
  <Application>Microsoft Macintosh PowerPoint</Application>
  <PresentationFormat>On-screen Show (16:9)</PresentationFormat>
  <Paragraphs>241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Airbnb Data Analysis</dc:title>
  <dc:subject>PptxGenJS Presentation</dc:subject>
  <dc:creator>PptxGenJS</dc:creator>
  <cp:lastModifiedBy>Chaitanya Kumar</cp:lastModifiedBy>
  <cp:revision>5</cp:revision>
  <dcterms:created xsi:type="dcterms:W3CDTF">2026-04-28T18:07:02Z</dcterms:created>
  <dcterms:modified xsi:type="dcterms:W3CDTF">2026-04-29T11:35:37Z</dcterms:modified>
</cp:coreProperties>
</file>